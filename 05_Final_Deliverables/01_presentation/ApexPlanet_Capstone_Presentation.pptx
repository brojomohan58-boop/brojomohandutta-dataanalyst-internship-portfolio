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5A84"/>
    <a:srgbClr val="4FA8D8"/>
    <a:srgbClr val="E8AA42"/>
    <a:srgbClr val="8B6BA8"/>
    <a:srgbClr val="00A896"/>
    <a:srgbClr val="F2545B"/>
    <a:srgbClr val="1B998B"/>
    <a:srgbClr val="F5C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78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787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phase builds on the last — cleaned data fed the SQL/BI</a:t>
            </a:r>
          </a:p>
          <a:p>
            <a:r>
              <a:t>layer, which fed the RFM model, which was statistically</a:t>
            </a:r>
          </a:p>
          <a:p>
            <a:r>
              <a:t>stress-tested before being turned into the recommendations</a:t>
            </a:r>
          </a:p>
          <a:p>
            <a:r>
              <a:t>that close this deck. This sequencing is the credibility</a:t>
            </a:r>
          </a:p>
          <a:p>
            <a:r>
              <a:t>backbone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528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so-what slide. Before diving into methodology,</a:t>
            </a:r>
          </a:p>
          <a:p>
            <a:r>
              <a:t>give the business the headline numbers. Flag early that</a:t>
            </a:r>
          </a:p>
          <a:p>
            <a:r>
              <a:t>Electronics concentration and the At-Risk/Lost segments are</a:t>
            </a:r>
          </a:p>
          <a:p>
            <a:r>
              <a:t>the two threads the strategy section will resolve with</a:t>
            </a:r>
          </a:p>
          <a:p>
            <a:r>
              <a:t>specific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778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decision logic, not just the actions: City nulls</a:t>
            </a:r>
          </a:p>
          <a:p>
            <a:r>
              <a:t>were labeled rather than guessed to avoid fabricating geography,</a:t>
            </a:r>
          </a:p>
          <a:p>
            <a:r>
              <a:t>and the Order_ID collision was repaired rather than dropped to</a:t>
            </a:r>
          </a:p>
          <a:p>
            <a:r>
              <a:t>avoid silently deleting real sales. Both choices preserved</a:t>
            </a:r>
          </a:p>
          <a:p>
            <a:r>
              <a:t>100% of the transaction population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44041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finding directly informs the recommendations later in</a:t>
            </a:r>
          </a:p>
          <a:p>
            <a:r>
              <a:t>the deck. Campaigns should focus on price and quantity</a:t>
            </a:r>
          </a:p>
          <a:p>
            <a:r>
              <a:t>mechanics such as bundles, thresholds and tiered discounts</a:t>
            </a:r>
          </a:p>
          <a:p>
            <a:r>
              <a:t>rather than age-based personalization, since age has almost</a:t>
            </a:r>
          </a:p>
          <a:p>
            <a:r>
              <a:t>no relationship to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9843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the two distributions deliberately. Cities are</a:t>
            </a:r>
          </a:p>
          <a:p>
            <a:r>
              <a:t>relatively evenly spread, which reduces geographic</a:t>
            </a:r>
          </a:p>
          <a:p>
            <a:r>
              <a:t>concentration. Electronics, however, represents 36.4% of</a:t>
            </a:r>
          </a:p>
          <a:p>
            <a:r>
              <a:t>revenue and is therefore the major category concentration</a:t>
            </a:r>
          </a:p>
          <a:p>
            <a:r>
              <a:t>risk addressed by the later bundling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98218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RFM Monetary reconciles exactly with sales revenue:</a:t>
            </a:r>
          </a:p>
          <a:p>
            <a:r>
              <a:t>₹139,399,439.65 on both sides. Frequency also sums to exactly</a:t>
            </a:r>
          </a:p>
          <a:p>
            <a:r>
              <a:t>1,000 orders. The segmentation is therefore validated against</a:t>
            </a:r>
          </a:p>
          <a:p>
            <a:r>
              <a:t>the source ledger rather than being a rough directional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6046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pivot point from analysis to strategy. Every</a:t>
            </a:r>
          </a:p>
          <a:p>
            <a:r>
              <a:t>number here maps directly to one of the recommendation tracks:</a:t>
            </a:r>
          </a:p>
          <a:p>
            <a:r>
              <a:t>At Risk for immediate action, Champions for short-term loyalty,</a:t>
            </a:r>
          </a:p>
          <a:p>
            <a:r>
              <a:t>New/Recent for medium-term conversion, and Potential Loyalists</a:t>
            </a:r>
          </a:p>
          <a:p>
            <a:r>
              <a:t>for strategic reactivation.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4388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guardrail slide. It prevents the business from</a:t>
            </a:r>
          </a:p>
          <a:p>
            <a:r>
              <a:t>over-investing in gender-specific campaigns. Pair this result</a:t>
            </a:r>
          </a:p>
          <a:p>
            <a:r>
              <a:t>with the earlier finding that age is also weakly correlated</a:t>
            </a:r>
          </a:p>
          <a:p>
            <a:r>
              <a:t>with spend. The data supports behavioral RFM targeting more</a:t>
            </a:r>
          </a:p>
          <a:p>
            <a:r>
              <a:t>directly than demographic spend targeting.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6690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hypothesis tests came back non-significant. This is</a:t>
            </a:r>
          </a:p>
          <a:p>
            <a:r>
              <a:t>useful because it tells the business that age and gender do</a:t>
            </a:r>
          </a:p>
          <a:p>
            <a:r>
              <a:t>not provide strong evidence for differentiated spend or</a:t>
            </a:r>
          </a:p>
          <a:p>
            <a:r>
              <a:t>category targeting in this dataset. The recommendation layer</a:t>
            </a:r>
          </a:p>
          <a:p>
            <a:r>
              <a:t>therefore emphasizes RFM behavior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6793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this as the quick win — lowest time horizon, clear</a:t>
            </a:r>
          </a:p>
          <a:p>
            <a:r>
              <a:t>cost/benefit, and directly addresses the largest exposure</a:t>
            </a:r>
          </a:p>
          <a:p>
            <a:r>
              <a:t>identified on the RFM analysis. It is the recommendation to</a:t>
            </a:r>
          </a:p>
          <a:p>
            <a:r>
              <a:t>lead with when asked what should happen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6513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Distinguish this from the At-Risk recommendation. This isn't</a:t>
            </a:r>
          </a:p>
          <a:p>
            <a:r>
              <a:rPr dirty="0"/>
              <a:t>about winning back lapsing revenue; it is about protecting</a:t>
            </a:r>
          </a:p>
          <a:p>
            <a:r>
              <a:rPr dirty="0"/>
              <a:t>and growing the healthy base. Champions have strong value</a:t>
            </a:r>
          </a:p>
          <a:p>
            <a:r>
              <a:rPr dirty="0"/>
              <a:t>density, while Loyal Customers provide a larger cross-sell</a:t>
            </a:r>
          </a:p>
          <a:p>
            <a:r>
              <a:rPr dirty="0"/>
              <a:t>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8801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Flag the unusually high ROI explicitly. The projected ROI is</a:t>
            </a:r>
          </a:p>
          <a:p>
            <a:r>
              <a:t>high because the cost is almost entirely automated messaging,</a:t>
            </a:r>
          </a:p>
          <a:p>
            <a:r>
              <a:t>not a large media or acquisition budget. This makes the</a:t>
            </a:r>
          </a:p>
          <a:p>
            <a:r>
              <a:t>initiative relatively low-cost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90581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protect-the-future slide. It closes the loop on</a:t>
            </a:r>
          </a:p>
          <a:p>
            <a:r>
              <a:t>the two structural risks introduced earlier: the dormant</a:t>
            </a:r>
          </a:p>
          <a:p>
            <a:r>
              <a:t>Potential Loyalist pool and the Electronics concentration.</a:t>
            </a:r>
          </a:p>
          <a:p>
            <a:r>
              <a:t>The strategy therefore addresses both customer value risk</a:t>
            </a:r>
          </a:p>
          <a:p>
            <a:r>
              <a:t>and category concentration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58929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the single slide a time-constrained executive</a:t>
            </a:r>
          </a:p>
          <a:p>
            <a:r>
              <a:t>could act on alone. It summarizes timing, target segment,</a:t>
            </a:r>
          </a:p>
          <a:p>
            <a:r>
              <a:t>incremental revenue and ROI for all four tracks. The New/Recent</a:t>
            </a:r>
          </a:p>
          <a:p>
            <a:r>
              <a:t>automation can run in parallel with the At-Risk win-back because</a:t>
            </a:r>
          </a:p>
          <a:p>
            <a:r>
              <a:t>both are relatively low-cost and automatable.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9287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re-anchoring the audience on the three core deliverables:</a:t>
            </a:r>
          </a:p>
          <a:p>
            <a:r>
              <a:t>a cleaned and validated analytical dataset, a two-page interactive</a:t>
            </a:r>
          </a:p>
          <a:p>
            <a:r>
              <a:t>Power BI model, and four statistically-informed ROI-based</a:t>
            </a:r>
          </a:p>
          <a:p>
            <a:r>
              <a:t>recommendation tracks.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738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9555480" y="-411480"/>
            <a:ext cx="2926080" cy="2926080"/>
          </a:xfrm>
          <a:prstGeom prst="hexag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9989820" y="22860"/>
            <a:ext cx="2057400" cy="2057400"/>
          </a:xfrm>
          <a:prstGeom prst="hexagon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8789148" y="4731464"/>
            <a:ext cx="1417320" cy="1417320"/>
          </a:xfrm>
          <a:prstGeom prst="hexag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58368" y="566928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66928"/>
            <a:ext cx="475488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621792"/>
            <a:ext cx="43891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DAF4EF"/>
                </a:solidFill>
                <a:latin typeface="Aptos"/>
              </a:rP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83090"/>
            <a:ext cx="7498079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From Raw Data </a:t>
            </a:r>
            <a:r>
              <a:rPr sz="2000" b="1" dirty="0" smtClean="0">
                <a:solidFill>
                  <a:srgbClr val="FFFFFF"/>
                </a:solidFill>
                <a:latin typeface="Aptos"/>
              </a:rPr>
              <a:t>to</a:t>
            </a:r>
            <a:r>
              <a:rPr lang="en-US" sz="2000" b="1" dirty="0" smtClean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smtClean="0">
                <a:solidFill>
                  <a:srgbClr val="FFFFFF"/>
                </a:solidFill>
                <a:latin typeface="Aptos"/>
              </a:rPr>
              <a:t>Revenue 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Strategy: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8565"/>
            <a:ext cx="786384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3200" b="1" dirty="0" err="1">
                <a:solidFill>
                  <a:srgbClr val="F9F7F1"/>
                </a:solidFill>
                <a:latin typeface="Aptos"/>
              </a:rPr>
              <a:t>ApexPlanet</a:t>
            </a:r>
            <a:r>
              <a:rPr sz="3200" b="1" dirty="0">
                <a:solidFill>
                  <a:srgbClr val="F9F7F1"/>
                </a:solidFill>
                <a:latin typeface="Aptos"/>
              </a:rPr>
              <a:t> Sales &amp; Customer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3151"/>
            <a:ext cx="7315200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dirty="0">
                <a:solidFill>
                  <a:srgbClr val="DAF4EF"/>
                </a:solidFill>
                <a:latin typeface="Aptos"/>
              </a:rPr>
              <a:t>A 60-day data analytics capstone turning 1,000 transactions into a ₹139.4M growth roadmap.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18832"/>
            <a:ext cx="8595360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Data Wrangling  →  EDA &amp; BI  →  RFM Segmentation  →  Statistical Validation  →  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760040" y="4232686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3" name="TextBox 12"/>
          <p:cNvSpPr txBox="1"/>
          <p:nvPr/>
        </p:nvSpPr>
        <p:spPr>
          <a:xfrm>
            <a:off x="868680" y="4354109"/>
            <a:ext cx="5029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195058"/>
            <a:ext cx="73152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277613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200" b="1" dirty="0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2177360" y="4232686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7" name="TextBox 16"/>
          <p:cNvSpPr txBox="1"/>
          <p:nvPr/>
        </p:nvSpPr>
        <p:spPr>
          <a:xfrm>
            <a:off x="2286000" y="4354109"/>
            <a:ext cx="5029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5195058"/>
            <a:ext cx="73152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4277613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2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3594680" y="4232686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1" name="TextBox 20"/>
          <p:cNvSpPr txBox="1"/>
          <p:nvPr/>
        </p:nvSpPr>
        <p:spPr>
          <a:xfrm>
            <a:off x="3703320" y="4354109"/>
            <a:ext cx="5029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1" y="5195058"/>
            <a:ext cx="73152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277613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2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5012000" y="4232686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5" name="TextBox 24"/>
          <p:cNvSpPr txBox="1"/>
          <p:nvPr/>
        </p:nvSpPr>
        <p:spPr>
          <a:xfrm>
            <a:off x="5120640" y="4354109"/>
            <a:ext cx="5029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1" y="5195057"/>
            <a:ext cx="768095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7" y="4277613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2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6429320" y="4232686"/>
            <a:ext cx="731520" cy="7315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29" name="TextBox 28"/>
          <p:cNvSpPr txBox="1"/>
          <p:nvPr/>
        </p:nvSpPr>
        <p:spPr>
          <a:xfrm>
            <a:off x="6537960" y="4354109"/>
            <a:ext cx="5029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195058"/>
            <a:ext cx="82359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44768"/>
            <a:ext cx="38404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Prepared by: Brojo Mohan Dutta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144768"/>
            <a:ext cx="33375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1">
                <a:solidFill>
                  <a:srgbClr val="F9F7F1"/>
                </a:solidFill>
                <a:latin typeface="Aptos"/>
              </a:rPr>
              <a:t>Reporting Period: Jan 2025 – Jan 2026</a:t>
            </a:r>
          </a:p>
        </p:txBody>
      </p:sp>
      <p:sp>
        <p:nvSpPr>
          <p:cNvPr id="33" name="Hexagon 32"/>
          <p:cNvSpPr/>
          <p:nvPr/>
        </p:nvSpPr>
        <p:spPr>
          <a:xfrm>
            <a:off x="10378440" y="411480"/>
            <a:ext cx="1280160" cy="1280160"/>
          </a:xfrm>
          <a:prstGeom prst="hexagon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Hexagon 34"/>
          <p:cNvSpPr/>
          <p:nvPr/>
        </p:nvSpPr>
        <p:spPr>
          <a:xfrm>
            <a:off x="8957496" y="4891439"/>
            <a:ext cx="1080623" cy="1120185"/>
          </a:xfrm>
          <a:prstGeom prst="hexagon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exagon 33"/>
          <p:cNvSpPr/>
          <p:nvPr/>
        </p:nvSpPr>
        <p:spPr>
          <a:xfrm>
            <a:off x="9157487" y="5107660"/>
            <a:ext cx="680641" cy="767235"/>
          </a:xfrm>
          <a:prstGeom prst="hexagon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 dirty="0">
                <a:solidFill>
                  <a:srgbClr val="0A2540"/>
                </a:solidFill>
                <a:latin typeface="Aptos"/>
              </a:rPr>
              <a:t>Project Objective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 dirty="0">
                <a:solidFill>
                  <a:srgbClr val="00A896"/>
                </a:solidFill>
                <a:latin typeface="Aptos"/>
              </a:rPr>
              <a:t>Four structured phases turned messy transactional data into a validated, actionable growth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286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9888" y="2103120"/>
            <a:ext cx="694944" cy="694944"/>
          </a:xfrm>
          <a:prstGeom prst="ellipse">
            <a:avLst/>
          </a:prstGeom>
          <a:solidFill>
            <a:srgbClr val="8B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93392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5714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DATA IMMERSION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192024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2540"/>
                </a:solidFill>
                <a:latin typeface="Aptos"/>
              </a:rPr>
              <a:t>Data Immersion
&amp; Wrangling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7044"/>
            <a:ext cx="1920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25B63"/>
                </a:solidFill>
                <a:latin typeface="Aptos"/>
              </a:rPr>
              <a:t>Python /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3127248"/>
            <a:ext cx="45720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874519"/>
            <a:ext cx="2286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97096" y="2103120"/>
            <a:ext cx="694944" cy="694944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1993392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95714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EDA +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337560"/>
            <a:ext cx="192024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2540"/>
                </a:solidFill>
                <a:latin typeface="Aptos"/>
              </a:rPr>
              <a:t>Exploratory Data
Analysis &amp;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4257044"/>
            <a:ext cx="1920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25B63"/>
                </a:solidFill>
                <a:latin typeface="Aptos"/>
              </a:rPr>
              <a:t>SQL / BigQuery +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3127248"/>
            <a:ext cx="45720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874519"/>
            <a:ext cx="2286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04304" y="2103120"/>
            <a:ext cx="694944" cy="694944"/>
          </a:xfrm>
          <a:prstGeom prst="ellipse">
            <a:avLst/>
          </a:prstGeom>
          <a:solidFill>
            <a:srgbClr val="4F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1993392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5976" y="295714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RFM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337560"/>
            <a:ext cx="192024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2540"/>
                </a:solidFill>
                <a:latin typeface="Aptos"/>
              </a:rPr>
              <a:t>Segmentation &amp;
Dashboarding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257044"/>
            <a:ext cx="1920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25B63"/>
                </a:solidFill>
                <a:latin typeface="Aptos"/>
              </a:rP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27248"/>
            <a:ext cx="45720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A896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5984" y="1874519"/>
            <a:ext cx="2286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11511" y="2103120"/>
            <a:ext cx="694944" cy="694944"/>
          </a:xfrm>
          <a:prstGeom prst="ellipse">
            <a:avLst/>
          </a:prstGeom>
          <a:solidFill>
            <a:srgbClr val="E75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0576" y="1993392"/>
            <a:ext cx="384048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295714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3" y="3337560"/>
            <a:ext cx="192024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2540"/>
                </a:solidFill>
                <a:latin typeface="Aptos"/>
              </a:rPr>
              <a:t>Statistical Validation
&amp; Storytelling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3" y="4257044"/>
            <a:ext cx="1920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25B63"/>
                </a:solidFill>
                <a:latin typeface="Aptos"/>
              </a:rPr>
              <a:t>Statistics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321808"/>
            <a:ext cx="10652760" cy="6400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77256"/>
            <a:ext cx="16002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CREDIBILITY BACKBONE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404104"/>
            <a:ext cx="78181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Clean → Explore → Segment → Stress-test → Recommend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02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75" y="2217216"/>
            <a:ext cx="453969" cy="45396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620" y="2196663"/>
            <a:ext cx="551268" cy="55126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635" y="2163423"/>
            <a:ext cx="523373" cy="52337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697" y="2125156"/>
            <a:ext cx="599906" cy="5999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72993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Executive Summary — The Business in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9065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04513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₹139.4M in revenue across 947 customers reveals a healthy but concentration-exposed and re-engagement-ready customer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0313"/>
            <a:ext cx="2514600" cy="896112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790313"/>
            <a:ext cx="59436" cy="89611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00041"/>
            <a:ext cx="22402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6929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₹139.4M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90313"/>
            <a:ext cx="2514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1840" y="1790313"/>
            <a:ext cx="59436" cy="896112"/>
          </a:xfrm>
          <a:prstGeom prst="roundRect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900041"/>
            <a:ext cx="22402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525B63"/>
                </a:solidFill>
                <a:latin typeface="Aptos"/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146929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0A2540"/>
                </a:solidFill>
                <a:latin typeface="Aptos"/>
              </a:rPr>
              <a:t>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1790313"/>
            <a:ext cx="2514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16752" y="1790313"/>
            <a:ext cx="59436" cy="896112"/>
          </a:xfrm>
          <a:prstGeom prst="round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1344" y="1900041"/>
            <a:ext cx="22402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525B63"/>
                </a:solidFill>
                <a:latin typeface="Aptos"/>
              </a:rPr>
              <a:t>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146929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0A2540"/>
                </a:solidFill>
                <a:latin typeface="Aptos"/>
              </a:rPr>
              <a:t>₹139.4K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1664" y="1790313"/>
            <a:ext cx="2514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41664" y="1790313"/>
            <a:ext cx="59436" cy="896112"/>
          </a:xfrm>
          <a:prstGeom prst="roundRect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06256" y="1900041"/>
            <a:ext cx="22402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525B63"/>
                </a:solidFill>
                <a:latin typeface="Aptos"/>
              </a:rPr>
              <a:t>UNIQUE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146929"/>
            <a:ext cx="224028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0A2540"/>
                </a:solidFill>
                <a:latin typeface="Aptos"/>
              </a:rPr>
              <a:t>947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33312"/>
            <a:ext cx="5120640" cy="3037719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217289"/>
            <a:ext cx="22860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Aptos"/>
              </a:rPr>
              <a:t>THE BUSINESS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591681"/>
            <a:ext cx="4114800" cy="7498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Electronics = 36.4%
of total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449163"/>
            <a:ext cx="192024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 dirty="0">
                <a:solidFill>
                  <a:srgbClr val="E8AA42"/>
                </a:solidFill>
                <a:latin typeface="Aptos"/>
              </a:rPr>
              <a:t>₹50.78M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560007"/>
            <a:ext cx="219456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0">
                <a:solidFill>
                  <a:srgbClr val="DAF4EF"/>
                </a:solidFill>
                <a:latin typeface="Aptos"/>
              </a:rPr>
              <a:t>largest single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184480"/>
            <a:ext cx="4343400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0" dirty="0">
                <a:solidFill>
                  <a:srgbClr val="F9F7F1"/>
                </a:solidFill>
                <a:latin typeface="Aptos"/>
              </a:rPr>
              <a:t>476 customers across At Risk + Lost segments represent ₹41.6M in exposed historical revenue.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61888" y="2933312"/>
            <a:ext cx="5486400" cy="3037719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3189345"/>
            <a:ext cx="27432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REVENUE CONCENTRATION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65447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dirty="0">
                <a:solidFill>
                  <a:srgbClr val="0A2540"/>
                </a:solidFill>
                <a:latin typeface="Aptos"/>
              </a:rPr>
              <a:t>Electronics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6768" y="3657509"/>
            <a:ext cx="50292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 dirty="0">
                <a:solidFill>
                  <a:srgbClr val="0A2540"/>
                </a:solidFill>
                <a:latin typeface="Aptos"/>
              </a:rPr>
              <a:t>₹50.78M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56177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dirty="0">
                <a:solidFill>
                  <a:srgbClr val="0A2540"/>
                </a:solidFill>
                <a:latin typeface="Aptos"/>
              </a:rPr>
              <a:t>Education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4050156"/>
            <a:ext cx="50292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 dirty="0">
                <a:solidFill>
                  <a:srgbClr val="0A2540"/>
                </a:solidFill>
                <a:latin typeface="Aptos"/>
              </a:rPr>
              <a:t>₹25.03M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448823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A2540"/>
                </a:solidFill>
                <a:latin typeface="Aptos"/>
              </a:rPr>
              <a:t>Grocery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4460908"/>
            <a:ext cx="50292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 dirty="0">
                <a:solidFill>
                  <a:srgbClr val="0A2540"/>
                </a:solidFill>
                <a:latin typeface="Aptos"/>
              </a:rPr>
              <a:t>₹22.23M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841469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A2540"/>
                </a:solidFill>
                <a:latin typeface="Aptos"/>
              </a:rPr>
              <a:t>Furniture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6768" y="4853554"/>
            <a:ext cx="50292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 dirty="0">
                <a:solidFill>
                  <a:srgbClr val="0A2540"/>
                </a:solidFill>
                <a:latin typeface="Aptos"/>
              </a:rPr>
              <a:t>₹21.52M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243173"/>
            <a:ext cx="1417320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dirty="0">
                <a:solidFill>
                  <a:srgbClr val="0A2540"/>
                </a:solidFill>
                <a:latin typeface="Aptos"/>
              </a:rPr>
              <a:t>Fashion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6973434" y="3646635"/>
            <a:ext cx="3743330" cy="1777389"/>
            <a:chOff x="6973434" y="3465576"/>
            <a:chExt cx="3063243" cy="1517904"/>
          </a:xfrm>
        </p:grpSpPr>
        <p:sp>
          <p:nvSpPr>
            <p:cNvPr id="32" name="Rounded Rectangle 31"/>
            <p:cNvSpPr/>
            <p:nvPr/>
          </p:nvSpPr>
          <p:spPr>
            <a:xfrm>
              <a:off x="6973437" y="3465576"/>
              <a:ext cx="3063240" cy="164592"/>
            </a:xfrm>
            <a:prstGeom prst="roundRect">
              <a:avLst/>
            </a:prstGeom>
            <a:solidFill>
              <a:srgbClr val="EBEF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6973434" y="3465576"/>
              <a:ext cx="3063240" cy="1517904"/>
              <a:chOff x="7543800" y="3465576"/>
              <a:chExt cx="3063240" cy="1517904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7543800" y="3465576"/>
                <a:ext cx="3063240" cy="164592"/>
              </a:xfrm>
              <a:prstGeom prst="roundRect">
                <a:avLst/>
              </a:prstGeom>
              <a:solidFill>
                <a:srgbClr val="4FA8D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7543800" y="3803904"/>
                <a:ext cx="3063240" cy="164592"/>
              </a:xfrm>
              <a:prstGeom prst="roundRect">
                <a:avLst/>
              </a:prstGeom>
              <a:solidFill>
                <a:srgbClr val="EBEF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7543800" y="3803904"/>
                <a:ext cx="1509903" cy="164592"/>
              </a:xfrm>
              <a:prstGeom prst="roundRect">
                <a:avLst/>
              </a:prstGeom>
              <a:solidFill>
                <a:srgbClr val="E75A8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7543800" y="4142232"/>
                <a:ext cx="3063240" cy="164592"/>
              </a:xfrm>
              <a:prstGeom prst="roundRect">
                <a:avLst/>
              </a:prstGeom>
              <a:solidFill>
                <a:srgbClr val="EBEF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7543800" y="4142232"/>
                <a:ext cx="1340996" cy="164592"/>
              </a:xfrm>
              <a:prstGeom prst="roundRect">
                <a:avLst/>
              </a:prstGeom>
              <a:solidFill>
                <a:srgbClr val="F5C54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7543800" y="4480560"/>
                <a:ext cx="3063240" cy="164592"/>
              </a:xfrm>
              <a:prstGeom prst="roundRect">
                <a:avLst/>
              </a:prstGeom>
              <a:solidFill>
                <a:srgbClr val="EBEF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7543800" y="4480560"/>
                <a:ext cx="1298167" cy="164592"/>
              </a:xfrm>
              <a:prstGeom prst="roundRect">
                <a:avLst/>
              </a:prstGeom>
              <a:solidFill>
                <a:srgbClr val="8B6BA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7543800" y="4818888"/>
                <a:ext cx="3063240" cy="164592"/>
              </a:xfrm>
              <a:prstGeom prst="roundRect">
                <a:avLst/>
              </a:prstGeom>
              <a:solidFill>
                <a:srgbClr val="EBEFF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7543800" y="4818888"/>
                <a:ext cx="1196823" cy="164592"/>
              </a:xfrm>
              <a:prstGeom prst="roundRect">
                <a:avLst/>
              </a:prstGeom>
              <a:solidFill>
                <a:srgbClr val="F254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10716768" y="5237147"/>
            <a:ext cx="50292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 dirty="0">
                <a:solidFill>
                  <a:srgbClr val="0A2540"/>
                </a:solidFill>
                <a:latin typeface="Aptos"/>
              </a:rPr>
              <a:t>₹19.84M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 dirty="0">
                <a:solidFill>
                  <a:srgbClr val="0A2540"/>
                </a:solidFill>
                <a:latin typeface="Aptos"/>
              </a:rPr>
              <a:t>Building a Trustworthy Data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Systematic cleaning turned a 1,000×12 raw extract into a fully auditable 1,000×19 analytical dataset with zero records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3828"/>
            <a:ext cx="4983480" cy="44348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02814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Aptos"/>
              </a:rPr>
              <a:t>BEFORE  •  RAW EXTRACT</a:t>
            </a:r>
          </a:p>
        </p:txBody>
      </p:sp>
      <p:sp>
        <p:nvSpPr>
          <p:cNvPr id="9" name="Oval 8"/>
          <p:cNvSpPr/>
          <p:nvPr/>
        </p:nvSpPr>
        <p:spPr>
          <a:xfrm>
            <a:off x="859536" y="2540212"/>
            <a:ext cx="320040" cy="3200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540212"/>
            <a:ext cx="32004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521924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21924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20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21924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00" b="0">
                <a:solidFill>
                  <a:srgbClr val="F9F7F1"/>
                </a:solidFill>
                <a:latin typeface="Aptos"/>
              </a:rPr>
              <a:t>2.0%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143716"/>
            <a:ext cx="320040" cy="3200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143716"/>
            <a:ext cx="32004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125428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125428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13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125428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00" b="0">
                <a:solidFill>
                  <a:srgbClr val="F9F7F1"/>
                </a:solidFill>
                <a:latin typeface="Aptos"/>
              </a:rPr>
              <a:t>1.3%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3747220"/>
            <a:ext cx="320040" cy="3200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747220"/>
            <a:ext cx="32004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728932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ORDER_ID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728932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9 collisions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28932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00" b="0">
                <a:solidFill>
                  <a:srgbClr val="F9F7F1"/>
                </a:solidFill>
                <a:latin typeface="Aptos"/>
              </a:rPr>
              <a:t>ORD100050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" y="4350724"/>
            <a:ext cx="320040" cy="3200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350724"/>
            <a:ext cx="32004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332436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ORDER_DATE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32436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Text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332436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00" b="0">
                <a:solidFill>
                  <a:srgbClr val="F9F7F1"/>
                </a:solidFill>
                <a:latin typeface="Aptos"/>
              </a:rPr>
              <a:t>Needs parsing</a:t>
            </a:r>
          </a:p>
        </p:txBody>
      </p:sp>
      <p:sp>
        <p:nvSpPr>
          <p:cNvPr id="29" name="Oval 28"/>
          <p:cNvSpPr/>
          <p:nvPr/>
        </p:nvSpPr>
        <p:spPr>
          <a:xfrm>
            <a:off x="859536" y="4954228"/>
            <a:ext cx="320040" cy="320040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4954228"/>
            <a:ext cx="32004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935940"/>
            <a:ext cx="1188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DAF4EF"/>
                </a:solidFill>
                <a:latin typeface="Aptos"/>
              </a:rPr>
              <a:t>DUPLICATES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935940"/>
            <a:ext cx="13716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0 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935940"/>
            <a:ext cx="1143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00" b="0">
                <a:solidFill>
                  <a:srgbClr val="F9F7F1"/>
                </a:solidFill>
                <a:latin typeface="Aptos"/>
              </a:rPr>
              <a:t>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753828"/>
            <a:ext cx="546811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2028148"/>
            <a:ext cx="301752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Aptos"/>
              </a:rPr>
              <a:t>AFTER  •  ANALYTICAL DATASET</a:t>
            </a:r>
          </a:p>
        </p:txBody>
      </p:sp>
      <p:sp>
        <p:nvSpPr>
          <p:cNvPr id="34" name="Hexagon 33"/>
          <p:cNvSpPr/>
          <p:nvPr/>
        </p:nvSpPr>
        <p:spPr>
          <a:xfrm>
            <a:off x="5376672" y="3381460"/>
            <a:ext cx="932688" cy="640080"/>
          </a:xfrm>
          <a:prstGeom prst="hexag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15145" y="3332793"/>
            <a:ext cx="640080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6446520" y="2413220"/>
            <a:ext cx="4645152" cy="2001512"/>
            <a:chOff x="6446520" y="2540212"/>
            <a:chExt cx="4343400" cy="1874520"/>
          </a:xfrm>
        </p:grpSpPr>
        <p:sp>
          <p:nvSpPr>
            <p:cNvPr id="38" name="Rectangle 37"/>
            <p:cNvSpPr/>
            <p:nvPr/>
          </p:nvSpPr>
          <p:spPr>
            <a:xfrm>
              <a:off x="6446520" y="2540212"/>
              <a:ext cx="1143000" cy="393192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46520" y="2558500"/>
              <a:ext cx="1143000" cy="32004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700" b="1" dirty="0" err="1">
                  <a:solidFill>
                    <a:srgbClr val="FFFFFF"/>
                  </a:solidFill>
                  <a:latin typeface="Aptos"/>
                </a:rPr>
                <a:t>Customer_ID</a:t>
              </a:r>
              <a:endParaRPr sz="700" b="1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589520" y="2540212"/>
              <a:ext cx="1234440" cy="393192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589520" y="2558500"/>
              <a:ext cx="1234440" cy="32004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ptos"/>
                </a:rPr>
                <a:t>Order_Date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823960" y="2540212"/>
              <a:ext cx="960120" cy="393192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823960" y="2558500"/>
              <a:ext cx="960120" cy="32004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ptos"/>
                </a:rPr>
                <a:t>Category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84080" y="2540212"/>
              <a:ext cx="1005840" cy="393192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84080" y="2558500"/>
              <a:ext cx="1005840" cy="32004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ptos"/>
                </a:rPr>
                <a:t>Sales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46520" y="2960836"/>
              <a:ext cx="114300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46520" y="2960836"/>
              <a:ext cx="114300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CUST001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589520" y="2960836"/>
              <a:ext cx="12344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589520" y="2960836"/>
              <a:ext cx="12344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2025-01-12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823960" y="2960836"/>
              <a:ext cx="96012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23960" y="2960836"/>
              <a:ext cx="96012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Electronics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784080" y="2960836"/>
              <a:ext cx="10058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784080" y="2960836"/>
              <a:ext cx="10058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 dirty="0">
                  <a:solidFill>
                    <a:srgbClr val="0A2540"/>
                  </a:solidFill>
                  <a:latin typeface="Aptos"/>
                </a:rPr>
                <a:t>₹145K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446520" y="3326596"/>
              <a:ext cx="114300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46520" y="3326596"/>
              <a:ext cx="114300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CUST002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589520" y="3326596"/>
              <a:ext cx="12344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589520" y="3326596"/>
              <a:ext cx="12344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2025-02-04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823960" y="3326596"/>
              <a:ext cx="96012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823960" y="3326596"/>
              <a:ext cx="96012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Education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784080" y="3326596"/>
              <a:ext cx="10058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784080" y="3326596"/>
              <a:ext cx="10058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₹92K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46520" y="3692356"/>
              <a:ext cx="114300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46520" y="3692356"/>
              <a:ext cx="114300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CUST003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589520" y="3692356"/>
              <a:ext cx="12344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89520" y="3692356"/>
              <a:ext cx="12344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2025-03-18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823960" y="3692356"/>
              <a:ext cx="96012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823960" y="3692356"/>
              <a:ext cx="96012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Grocery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784080" y="3692356"/>
              <a:ext cx="10058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784080" y="3692356"/>
              <a:ext cx="10058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₹74K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446520" y="4058116"/>
              <a:ext cx="114300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446520" y="4058116"/>
              <a:ext cx="114300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CUST004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589520" y="4058116"/>
              <a:ext cx="12344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589520" y="4058116"/>
              <a:ext cx="12344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2025-04-21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8823960" y="4058116"/>
              <a:ext cx="96012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823960" y="4058116"/>
              <a:ext cx="96012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Furniture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9784080" y="4058116"/>
              <a:ext cx="1005840" cy="356616"/>
            </a:xfrm>
            <a:prstGeom prst="rect">
              <a:avLst/>
            </a:prstGeom>
            <a:solidFill>
              <a:srgbClr val="F7F9FA"/>
            </a:solidFill>
            <a:ln>
              <a:solidFill>
                <a:srgbClr val="EBEF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784080" y="4058116"/>
              <a:ext cx="1005840" cy="3108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680" b="0">
                  <a:solidFill>
                    <a:srgbClr val="0A2540"/>
                  </a:solidFill>
                  <a:latin typeface="Aptos"/>
                </a:rPr>
                <a:t>₹181K</a:t>
              </a:r>
            </a:p>
          </p:txBody>
        </p:sp>
      </p:grpSp>
      <p:sp>
        <p:nvSpPr>
          <p:cNvPr id="78" name="Rounded Rectangle 77"/>
          <p:cNvSpPr/>
          <p:nvPr/>
        </p:nvSpPr>
        <p:spPr>
          <a:xfrm>
            <a:off x="6446520" y="4588468"/>
            <a:ext cx="4645152" cy="1078992"/>
          </a:xfrm>
          <a:prstGeom prst="roundRect">
            <a:avLst/>
          </a:prstGeom>
          <a:solidFill>
            <a:srgbClr val="D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75120" y="4749000"/>
            <a:ext cx="150876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896"/>
                </a:solidFill>
                <a:latin typeface="Aptos"/>
              </a:rPr>
              <a:t>ENGINEERED FIELDS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5120" y="5069040"/>
            <a:ext cx="41148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 dirty="0" err="1">
                <a:solidFill>
                  <a:srgbClr val="0A2540"/>
                </a:solidFill>
                <a:latin typeface="Aptos"/>
              </a:rPr>
              <a:t>Order_Year</a:t>
            </a:r>
            <a:r>
              <a:rPr sz="1000" b="1" dirty="0">
                <a:solidFill>
                  <a:srgbClr val="0A2540"/>
                </a:solidFill>
                <a:latin typeface="Aptos"/>
              </a:rPr>
              <a:t>  •  </a:t>
            </a:r>
            <a:r>
              <a:rPr sz="1000" b="1" dirty="0" err="1">
                <a:solidFill>
                  <a:srgbClr val="0A2540"/>
                </a:solidFill>
                <a:latin typeface="Aptos"/>
              </a:rPr>
              <a:t>Order_Month</a:t>
            </a:r>
            <a:r>
              <a:rPr sz="1000" b="1" dirty="0">
                <a:solidFill>
                  <a:srgbClr val="0A2540"/>
                </a:solidFill>
                <a:latin typeface="Aptos"/>
              </a:rPr>
              <a:t>  •  </a:t>
            </a:r>
            <a:r>
              <a:rPr sz="1000" b="1" dirty="0" err="1">
                <a:solidFill>
                  <a:srgbClr val="0A2540"/>
                </a:solidFill>
                <a:latin typeface="Aptos"/>
              </a:rPr>
              <a:t>Age_Group</a:t>
            </a:r>
            <a:r>
              <a:rPr sz="1000" b="1" dirty="0">
                <a:solidFill>
                  <a:srgbClr val="0A2540"/>
                </a:solidFill>
                <a:latin typeface="Aptos"/>
              </a:rPr>
              <a:t>  •  </a:t>
            </a:r>
            <a:r>
              <a:rPr sz="1000" b="1" dirty="0" err="1">
                <a:solidFill>
                  <a:srgbClr val="0A2540"/>
                </a:solidFill>
                <a:latin typeface="Aptos"/>
              </a:rPr>
              <a:t>Avg_Price_Check</a:t>
            </a:r>
            <a:endParaRPr sz="1000" b="1" dirty="0">
              <a:solidFill>
                <a:srgbClr val="0A2540"/>
              </a:solidFill>
              <a:latin typeface="Apto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675120" y="5393652"/>
            <a:ext cx="416052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0">
                <a:solidFill>
                  <a:srgbClr val="525B63"/>
                </a:solidFill>
                <a:latin typeface="Aptos"/>
              </a:rPr>
              <a:t>1,000 rows × 19 columns  •  100% population retained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What Actually Drives a Transaction's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Transaction value is driven by price and volume, not by customer age or gender.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17252"/>
            <a:ext cx="640080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18" y="1849840"/>
            <a:ext cx="5235879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717252"/>
            <a:ext cx="4407408" cy="44988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2055579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THE TWO STRONGEST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96143"/>
            <a:ext cx="18288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r = 0.69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26002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F9F7F1"/>
                </a:solidFill>
                <a:latin typeface="Aptos"/>
              </a:rPr>
              <a:t>Unit Price ↔ Total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21151"/>
            <a:ext cx="182880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500" b="1" dirty="0">
                <a:solidFill>
                  <a:srgbClr val="E8AA42"/>
                </a:solidFill>
                <a:latin typeface="Aptos"/>
              </a:rPr>
              <a:t>r = 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60062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F9F7F1"/>
                </a:solidFill>
                <a:latin typeface="Aptos"/>
              </a:rPr>
              <a:t>Quantity ↔ Total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764270"/>
            <a:ext cx="3520440" cy="718371"/>
          </a:xfrm>
          <a:prstGeom prst="roundRect">
            <a:avLst/>
          </a:prstGeom>
          <a:solidFill>
            <a:srgbClr val="12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3960486"/>
            <a:ext cx="3154680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 dirty="0">
                <a:solidFill>
                  <a:srgbClr val="DAF4EF"/>
                </a:solidFill>
                <a:latin typeface="Aptos"/>
              </a:rPr>
              <a:t>Age: |r| ≤ 0.03
Quantity ↔ Unit Price: r = 0.02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4715958"/>
            <a:ext cx="3900414" cy="11397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●  Pricing and basket-size mechanics matter more than demographic targeting for AOV</a:t>
            </a:r>
            <a:r>
              <a:rPr sz="1400" dirty="0" smtClean="0"/>
              <a:t>.</a:t>
            </a:r>
            <a:endParaRPr lang="en-US" sz="1400" dirty="0" smtClean="0"/>
          </a:p>
          <a:p>
            <a:pPr>
              <a:spcAft>
                <a:spcPts val="100"/>
              </a:spcAft>
              <a:defRPr sz="75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>
              <a:spcAft>
                <a:spcPts val="100"/>
              </a:spcAft>
              <a:defRPr sz="75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●  Bundles, thresholds and tiered offers are therefore more data-supported levers.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54887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 dirty="0">
                <a:solidFill>
                  <a:srgbClr val="0A2540"/>
                </a:solidFill>
                <a:latin typeface="Aptos"/>
              </a:rPr>
              <a:t>Revenue Concentration Across Category and Geography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30959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86407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Revenue is broad-based across 8 cities but concentrated in one category — Electronics.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08199"/>
            <a:ext cx="5532120" cy="4076957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4231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CATEGORY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08199"/>
            <a:ext cx="5486400" cy="4076957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964231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GEOGRAPHIC REVENUE</a:t>
            </a:r>
          </a:p>
        </p:txBody>
      </p:sp>
      <p:pic>
        <p:nvPicPr>
          <p:cNvPr id="12" name="Picture 11" descr="cit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01975"/>
            <a:ext cx="5074920" cy="3320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6002035"/>
            <a:ext cx="11155680" cy="420624"/>
          </a:xfrm>
          <a:prstGeom prst="roundRect">
            <a:avLst/>
          </a:prstGeom>
          <a:solidFill>
            <a:srgbClr val="D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" y="6059251"/>
            <a:ext cx="103784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0A2540"/>
                </a:solidFill>
                <a:latin typeface="Aptos"/>
              </a:rPr>
              <a:t>Electronics ₹50.78M = 36.4%   •   No single city exceeds 14% of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06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77" y="2218187"/>
            <a:ext cx="5139206" cy="33044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Segmenting 947 Customers by Recency, Frequency &amp; Monetary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RFM segmentation splits the customer base into six behaviorally distinct groups, each requiring a different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554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25312" y="180869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25312" y="1808692"/>
            <a:ext cx="64008" cy="120700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192756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Champions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2247603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35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532806"/>
            <a:ext cx="160020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 dirty="0">
                <a:solidFill>
                  <a:srgbClr val="00A896"/>
                </a:solidFill>
                <a:latin typeface="Aptos"/>
              </a:rPr>
              <a:t>₹12.30M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80869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0" y="1808692"/>
            <a:ext cx="64008" cy="1207008"/>
          </a:xfrm>
          <a:prstGeom prst="roundRect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192756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Loyal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47603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200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21924"/>
            <a:ext cx="16002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235B82"/>
                </a:solidFill>
                <a:latin typeface="Aptos"/>
              </a:rPr>
              <a:t>₹29.19M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327173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25312" y="3271732"/>
            <a:ext cx="64008" cy="1207008"/>
          </a:xfrm>
          <a:prstGeom prst="round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192" y="339060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Potential Loyalist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710644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244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995846"/>
            <a:ext cx="160020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 dirty="0">
                <a:solidFill>
                  <a:srgbClr val="E8AA42"/>
                </a:solidFill>
                <a:latin typeface="Aptos"/>
              </a:rPr>
              <a:t>₹40.59M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27173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0" y="3271732"/>
            <a:ext cx="64008" cy="1207008"/>
          </a:xfrm>
          <a:prstGeom prst="roundRect">
            <a:avLst/>
          </a:prstGeom>
          <a:solidFill>
            <a:srgbClr val="4F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339060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New / Recent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710644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111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984964"/>
            <a:ext cx="16002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4FA8D8"/>
                </a:solidFill>
                <a:latin typeface="Aptos"/>
              </a:rPr>
              <a:t>₹15.74M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5312" y="473477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25312" y="4734772"/>
            <a:ext cx="64008" cy="1207008"/>
          </a:xfrm>
          <a:prstGeom prst="roundRect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8192" y="485364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At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173684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238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5448004"/>
            <a:ext cx="16002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F2545B"/>
                </a:solidFill>
                <a:latin typeface="Aptos"/>
              </a:rPr>
              <a:t>₹35.38M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4734772"/>
            <a:ext cx="2487168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800" y="4734772"/>
            <a:ext cx="64008" cy="1207008"/>
          </a:xfrm>
          <a:prstGeom prst="roundRect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0" y="4853644"/>
            <a:ext cx="2084831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A2540"/>
                </a:solidFill>
                <a:latin typeface="Aptos"/>
              </a:rPr>
              <a:t>Lost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173684"/>
            <a:ext cx="132588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525B63"/>
                </a:solidFill>
                <a:latin typeface="Aptos"/>
              </a:rPr>
              <a:t>119 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448004"/>
            <a:ext cx="16002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9AA5B1"/>
                </a:solidFill>
                <a:latin typeface="Aptos"/>
              </a:rPr>
              <a:t>₹6.19M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6078940"/>
            <a:ext cx="50749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1">
                <a:solidFill>
                  <a:srgbClr val="0A2540"/>
                </a:solidFill>
                <a:latin typeface="Aptos"/>
              </a:rPr>
              <a:t>Average RFM Score: 7.50  •  Scale: 3–12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07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67" y="2048156"/>
            <a:ext cx="4514191" cy="36289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Where the Value Sits — and Where It's at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₹41.6M in customer value sits in the At-Risk and Lost segments — the single largest business exposure in the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3828"/>
            <a:ext cx="6812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43800" y="1753828"/>
            <a:ext cx="4069080" cy="44805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055579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VALUE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67060"/>
            <a:ext cx="292608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₹41.57M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01570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>
                <a:solidFill>
                  <a:srgbClr val="F9F7F1"/>
                </a:solidFill>
                <a:latin typeface="Aptos"/>
              </a:rPr>
              <a:t>At Risk + Lost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546052"/>
            <a:ext cx="3246120" cy="713232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3674068"/>
            <a:ext cx="1554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>
                <a:solidFill>
                  <a:srgbClr val="F2545B"/>
                </a:solidFill>
                <a:latin typeface="Aptos"/>
              </a:rPr>
              <a:t>357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683212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50" b="0">
                <a:solidFill>
                  <a:srgbClr val="DAF4EF"/>
                </a:solidFill>
                <a:latin typeface="Aptos"/>
              </a:rPr>
              <a:t>historical value at risk</a:t>
            </a:r>
          </a:p>
        </p:txBody>
      </p:sp>
      <p:sp>
        <p:nvSpPr>
          <p:cNvPr id="16" name="Oval 15"/>
          <p:cNvSpPr/>
          <p:nvPr/>
        </p:nvSpPr>
        <p:spPr>
          <a:xfrm>
            <a:off x="7882127" y="4524460"/>
            <a:ext cx="246888" cy="246888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4506172"/>
            <a:ext cx="146304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AT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4506172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238 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7882127" y="4908508"/>
            <a:ext cx="246888" cy="2468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4890220"/>
            <a:ext cx="146304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4890220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35 customers</a:t>
            </a:r>
          </a:p>
        </p:txBody>
      </p:sp>
      <p:sp>
        <p:nvSpPr>
          <p:cNvPr id="22" name="Oval 21"/>
          <p:cNvSpPr/>
          <p:nvPr/>
        </p:nvSpPr>
        <p:spPr>
          <a:xfrm>
            <a:off x="7882127" y="5292556"/>
            <a:ext cx="246888" cy="246888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5274268"/>
            <a:ext cx="146304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POTENTIAL LOYALIST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5274268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₹40.6M pool</a:t>
            </a:r>
          </a:p>
        </p:txBody>
      </p:sp>
      <p:sp>
        <p:nvSpPr>
          <p:cNvPr id="25" name="Oval 24"/>
          <p:cNvSpPr/>
          <p:nvPr/>
        </p:nvSpPr>
        <p:spPr>
          <a:xfrm>
            <a:off x="7882127" y="5676604"/>
            <a:ext cx="246888" cy="246888"/>
          </a:xfrm>
          <a:prstGeom prst="ellipse">
            <a:avLst/>
          </a:prstGeom>
          <a:solidFill>
            <a:srgbClr val="4F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5658316"/>
            <a:ext cx="146304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5658316"/>
            <a:ext cx="141732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Mostly one-time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08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80" y="2028148"/>
            <a:ext cx="6229300" cy="3895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Testing the Assumptions: Gender-Based Spending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No statistically significant difference in spending between male and female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53828"/>
            <a:ext cx="5760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ender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19588"/>
            <a:ext cx="5074920" cy="3941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753828"/>
            <a:ext cx="5010912" cy="44805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046436"/>
            <a:ext cx="38862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INDEPENDENT TWO-SAMPLE T-TEST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76788"/>
            <a:ext cx="196596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 = 0.6820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576788"/>
            <a:ext cx="205740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>
                <a:solidFill>
                  <a:srgbClr val="E8AA42"/>
                </a:solidFill>
                <a:latin typeface="Aptos"/>
              </a:rPr>
              <a:t>p = 0.495389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244300"/>
            <a:ext cx="2331720" cy="502920"/>
          </a:xfrm>
          <a:prstGeom prst="roundRect">
            <a:avLst/>
          </a:prstGeom>
          <a:solidFill>
            <a:srgbClr val="133E4D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3290020"/>
            <a:ext cx="233172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NOT SIGNIFICANT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003251"/>
            <a:ext cx="10972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DAF4EF"/>
                </a:solidFill>
                <a:latin typeface="Aptos"/>
              </a:rPr>
              <a:t>Male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250140"/>
            <a:ext cx="16002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₹141,807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003251"/>
            <a:ext cx="128016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DAF4EF"/>
                </a:solidFill>
                <a:latin typeface="Aptos"/>
              </a:rPr>
              <a:t>Female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250140"/>
            <a:ext cx="16002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₹136,883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914820"/>
            <a:ext cx="388620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 dirty="0">
                <a:solidFill>
                  <a:srgbClr val="F9F7F1"/>
                </a:solidFill>
                <a:latin typeface="Aptos"/>
              </a:rPr>
              <a:t>95% CI for difference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:</a:t>
            </a:r>
            <a:r>
              <a:rPr lang="en-US" sz="1400" b="0" dirty="0" smtClean="0">
                <a:solidFill>
                  <a:srgbClr val="F9F7F1"/>
                </a:solidFill>
                <a:latin typeface="Aptos"/>
              </a:rPr>
              <a:t> 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−₹</a:t>
            </a:r>
            <a:r>
              <a:rPr sz="1400" b="0" dirty="0">
                <a:solidFill>
                  <a:srgbClr val="F9F7F1"/>
                </a:solidFill>
                <a:latin typeface="Aptos"/>
              </a:rPr>
              <a:t>9,214.68 to ₹19,062.94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489219"/>
            <a:ext cx="388620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 dirty="0">
                <a:solidFill>
                  <a:srgbClr val="00A896"/>
                </a:solidFill>
                <a:latin typeface="Aptos"/>
              </a:rPr>
              <a:t>Decision: Fail to reject H₀ at α =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Testing the Assumptions: Do Age Groups Prefer Different Categories?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Product category preference is independent of customer age group.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5540"/>
            <a:ext cx="681228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ge_category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47020"/>
            <a:ext cx="6355080" cy="38101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735540"/>
            <a:ext cx="4069080" cy="44988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037291"/>
            <a:ext cx="329184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0A896"/>
                </a:solidFill>
                <a:latin typeface="Aptos"/>
              </a:rPr>
              <a:t>CHI-SQUARE TEST OF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85932"/>
            <a:ext cx="2834640" cy="3931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χ² = 10.5361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079708"/>
            <a:ext cx="18288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9F7F1"/>
                </a:solidFill>
                <a:latin typeface="Aptos"/>
              </a:rPr>
              <a:t>df =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500332"/>
            <a:ext cx="2834640" cy="3931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>
                <a:solidFill>
                  <a:srgbClr val="E8AA42"/>
                </a:solidFill>
                <a:latin typeface="Aptos"/>
              </a:rPr>
              <a:t>p = 0.837174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112980"/>
            <a:ext cx="2331720" cy="502920"/>
          </a:xfrm>
          <a:prstGeom prst="roundRect">
            <a:avLst/>
          </a:prstGeom>
          <a:solidFill>
            <a:srgbClr val="133E4D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158699"/>
            <a:ext cx="233172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A896"/>
                </a:solidFill>
                <a:latin typeface="Aptos"/>
              </a:rPr>
              <a:t>NOT SIGNIFICANT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85130"/>
            <a:ext cx="292608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Aptos"/>
              </a:rPr>
              <a:t>Cramér's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V = 0.0513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151927"/>
            <a:ext cx="292608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 dirty="0">
                <a:solidFill>
                  <a:srgbClr val="DAF4EF"/>
                </a:solidFill>
                <a:latin typeface="Aptos"/>
              </a:rPr>
              <a:t>Negligible association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586904"/>
            <a:ext cx="315468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 dirty="0">
                <a:solidFill>
                  <a:srgbClr val="00A896"/>
                </a:solidFill>
                <a:latin typeface="Aptos"/>
              </a:rPr>
              <a:t>Decision: Fail to reject H₀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Immediate Action: Win-Back the At-Risk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A 14-day, 3-touch win-back sequence can recover ₹3.6M–5.4M from 238 At-Risk customers at a 3:1–5:1 ROI.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3828"/>
            <a:ext cx="6720840" cy="372160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8148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14-DAY WIN-BACK 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491188"/>
            <a:ext cx="52120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3207724"/>
            <a:ext cx="621792" cy="6217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244300"/>
            <a:ext cx="621792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4532"/>
            <a:ext cx="128016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A2540"/>
                </a:solidFill>
                <a:latin typeface="Aptos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4067260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2540"/>
                </a:solidFill>
                <a:latin typeface="Aptos"/>
              </a:rPr>
              <a:t>Recommendation
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4588468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00" b="0">
                <a:solidFill>
                  <a:srgbClr val="525B63"/>
                </a:solidFill>
                <a:latin typeface="Aptos"/>
              </a:rPr>
              <a:t>Personalized
product picks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3207724"/>
            <a:ext cx="621792" cy="6217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244300"/>
            <a:ext cx="621792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14532"/>
            <a:ext cx="128016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A2540"/>
                </a:solidFill>
                <a:latin typeface="Aptos"/>
              </a:rPr>
              <a:t>DAY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4067260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2540"/>
                </a:solidFill>
                <a:latin typeface="Aptos"/>
              </a:rPr>
              <a:t>15% Coupon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39" y="4588468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00" b="0">
                <a:solidFill>
                  <a:srgbClr val="525B63"/>
                </a:solidFill>
                <a:latin typeface="Aptos"/>
              </a:rPr>
              <a:t>Limited-time
re-purchase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3207724"/>
            <a:ext cx="621792" cy="62179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25987" y="3244300"/>
            <a:ext cx="621792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814532"/>
            <a:ext cx="128016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A2540"/>
                </a:solidFill>
                <a:latin typeface="Aptos"/>
              </a:rPr>
              <a:t>DAY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067260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2540"/>
                </a:solidFill>
                <a:latin typeface="Aptos"/>
              </a:rPr>
              <a:t>Loyalty + Free 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588468"/>
            <a:ext cx="1645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00" b="0">
                <a:solidFill>
                  <a:srgbClr val="525B63"/>
                </a:solidFill>
                <a:latin typeface="Aptos"/>
              </a:rPr>
              <a:t>Final retention
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" y="5693081"/>
            <a:ext cx="5870946" cy="548640"/>
          </a:xfrm>
          <a:prstGeom prst="roundRect">
            <a:avLst/>
          </a:prstGeom>
          <a:solidFill>
            <a:srgbClr val="D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" y="5848018"/>
            <a:ext cx="6355080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0A2540"/>
                </a:solidFill>
                <a:latin typeface="Aptos"/>
              </a:rPr>
              <a:t>Target: 238 customers  •  Exposure: ₹35.4M  •  Investment: ₹2M–3M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753828"/>
            <a:ext cx="3977640" cy="44805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97840" y="2037291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dirty="0">
                <a:solidFill>
                  <a:srgbClr val="00A896"/>
                </a:solidFill>
                <a:latin typeface="Aptos"/>
              </a:rPr>
              <a:t>EXPECTED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2567" y="2295773"/>
            <a:ext cx="265176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₹3.6M–5.4M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8778" y="2816981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0" dirty="0">
                <a:solidFill>
                  <a:srgbClr val="F9F7F1"/>
                </a:solidFill>
                <a:latin typeface="Aptos"/>
              </a:rPr>
              <a:t>incremental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687" y="3103349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100" b="1" dirty="0">
                <a:solidFill>
                  <a:srgbClr val="E8AA42"/>
                </a:solidFill>
                <a:latin typeface="Aptos"/>
              </a:rPr>
              <a:t>10–15%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042" y="3523973"/>
            <a:ext cx="242316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0" dirty="0">
                <a:solidFill>
                  <a:srgbClr val="DAF4EF"/>
                </a:solidFill>
                <a:latin typeface="Aptos"/>
              </a:rPr>
              <a:t>expected re-purchase 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9729" y="3945689"/>
            <a:ext cx="2331720" cy="640080"/>
          </a:xfrm>
          <a:prstGeom prst="roundRect">
            <a:avLst/>
          </a:prstGeom>
          <a:solidFill>
            <a:srgbClr val="1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79723" y="4082849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00A896"/>
                </a:solidFill>
                <a:latin typeface="Aptos"/>
              </a:rPr>
              <a:t>3:1–5:1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1638" y="4994652"/>
            <a:ext cx="3601242" cy="70173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0" dirty="0">
                <a:solidFill>
                  <a:srgbClr val="F9F7F1"/>
                </a:solidFill>
                <a:latin typeface="Aptos"/>
              </a:rPr>
              <a:t>High spend ≥₹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200K:</a:t>
            </a:r>
            <a:r>
              <a:rPr lang="en-US" sz="1400" b="0" dirty="0" smtClean="0">
                <a:solidFill>
                  <a:srgbClr val="F9F7F1"/>
                </a:solidFill>
                <a:latin typeface="Aptos"/>
              </a:rPr>
              <a:t> 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phone </a:t>
            </a:r>
            <a:r>
              <a:rPr sz="1400" b="0" dirty="0">
                <a:solidFill>
                  <a:srgbClr val="F9F7F1"/>
                </a:solidFill>
                <a:latin typeface="Aptos"/>
              </a:rPr>
              <a:t>+ ₹500 off
Low spend &lt;₹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50K:</a:t>
            </a:r>
            <a:r>
              <a:rPr lang="en-US" sz="1400" b="0" dirty="0" smtClean="0">
                <a:solidFill>
                  <a:srgbClr val="F9F7F1"/>
                </a:solidFill>
                <a:latin typeface="Aptos"/>
              </a:rPr>
              <a:t> </a:t>
            </a:r>
            <a:r>
              <a:rPr sz="1400" b="0" dirty="0" smtClean="0">
                <a:solidFill>
                  <a:srgbClr val="F9F7F1"/>
                </a:solidFill>
                <a:latin typeface="Aptos"/>
              </a:rPr>
              <a:t>email </a:t>
            </a:r>
            <a:r>
              <a:rPr sz="1400" b="0" dirty="0">
                <a:solidFill>
                  <a:srgbClr val="F9F7F1"/>
                </a:solidFill>
                <a:latin typeface="Aptos"/>
              </a:rPr>
              <a:t>+ ₹100 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Short-Term: Lock In Champions, Upsell Loyal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Protecting 35 Champions and upgrading 200 Loyal Customers can add ₹2.7M–4.7M in incremental annual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1260"/>
            <a:ext cx="5349240" cy="4012949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61388"/>
            <a:ext cx="91440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00A896"/>
                </a:solidFill>
                <a:latin typeface="Aptos"/>
              </a:rPr>
              <a:t>TRACK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88509"/>
            <a:ext cx="34747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Champions VIP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57501"/>
            <a:ext cx="402336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0">
                <a:solidFill>
                  <a:srgbClr val="DAF4EF"/>
                </a:solidFill>
                <a:latin typeface="Aptos"/>
              </a:rPr>
              <a:t>35 customers  •  ₹12.3M historical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7180"/>
            <a:ext cx="4343400" cy="117570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Platinum tier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5% cash back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Dedicated account manager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Early product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988750"/>
            <a:ext cx="224028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E8AA42"/>
                </a:solidFill>
                <a:latin typeface="Aptos"/>
              </a:rPr>
              <a:t>+₹1.2M–1.8M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078909"/>
            <a:ext cx="114300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00A896"/>
                </a:solidFill>
                <a:latin typeface="Aptos"/>
              </a:rPr>
              <a:t>ROI 2:1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1260"/>
            <a:ext cx="5349240" cy="4012949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061388"/>
            <a:ext cx="91440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TRACK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88509"/>
            <a:ext cx="347472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Loyal Cross-Sell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57501"/>
            <a:ext cx="402336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0">
                <a:solidFill>
                  <a:srgbClr val="F9F7F1"/>
                </a:solidFill>
                <a:latin typeface="Aptos"/>
              </a:rPr>
              <a:t>200 customers  •  ₹29.2M historical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27180"/>
            <a:ext cx="4343400" cy="117570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1% / 3% / 5% cash-back tiers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Birthday triggers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SMS engagement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●  Cross-category offers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88750"/>
            <a:ext cx="224028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E8AA42"/>
                </a:solidFill>
                <a:latin typeface="Aptos"/>
              </a:rPr>
              <a:t>+₹1.5M–2.9M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78909"/>
            <a:ext cx="150876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ROI 1.5:1–2:1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941423"/>
            <a:ext cx="10972800" cy="467611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6029941"/>
            <a:ext cx="92354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0A2540"/>
                </a:solidFill>
                <a:latin typeface="Aptos"/>
              </a:rPr>
              <a:t>Combined investment: ~₹2.8M–3.6M  •  Focus: retention + lifetime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Medium-Term: Convert First-Time Buyers into Repeat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A low-cost, automated second-purchase nudge for New/Recent customers delivers the highest ROI of any initiative — up to 130:1.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5540"/>
            <a:ext cx="653796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09860"/>
            <a:ext cx="30175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SECOND-PURCHASE CONVERSION FUNNEL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668228"/>
            <a:ext cx="4754880" cy="65836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768812"/>
            <a:ext cx="475488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111 NEW / RECENT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3491188"/>
            <a:ext cx="393192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3591772"/>
            <a:ext cx="393192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DAY 7  •  EMAIL + 20% 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4231851"/>
            <a:ext cx="3108960" cy="566928"/>
          </a:xfrm>
          <a:prstGeom prst="roundRect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4323292"/>
            <a:ext cx="3108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DAY 14 / 21  •  SMS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945084"/>
            <a:ext cx="2331720" cy="566928"/>
          </a:xfrm>
          <a:prstGeom prst="roundRect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5036524"/>
            <a:ext cx="233172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2540"/>
                </a:solidFill>
                <a:latin typeface="Aptos"/>
              </a:rPr>
              <a:t>22–33 SECOND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4927" y="1735540"/>
            <a:ext cx="4206240" cy="44988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54112" y="2037291"/>
            <a:ext cx="30175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LOW-COST / HIGH-RETURN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2340763"/>
            <a:ext cx="2926080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₹3.1M–4.6M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861971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0">
                <a:solidFill>
                  <a:srgbClr val="F9F7F1"/>
                </a:solidFill>
                <a:latin typeface="Aptos"/>
              </a:rPr>
              <a:t>expected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265850"/>
            <a:ext cx="22860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 dirty="0">
                <a:solidFill>
                  <a:srgbClr val="E8AA42"/>
                </a:solidFill>
                <a:latin typeface="Aptos"/>
              </a:rPr>
              <a:t>₹35K–45K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677329"/>
            <a:ext cx="25603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DAF4EF"/>
                </a:solidFill>
                <a:latin typeface="Aptos"/>
              </a:rPr>
              <a:t>estimated campaign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4180250"/>
            <a:ext cx="2834640" cy="640080"/>
          </a:xfrm>
          <a:prstGeom prst="roundRect">
            <a:avLst/>
          </a:prstGeom>
          <a:solidFill>
            <a:srgbClr val="1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4112" y="4335698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A896"/>
                </a:solidFill>
                <a:latin typeface="Aptos"/>
              </a:rPr>
              <a:t>ROI 85:1–130:1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5076007"/>
            <a:ext cx="2834640" cy="794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0" dirty="0">
                <a:solidFill>
                  <a:srgbClr val="F9F7F1"/>
                </a:solidFill>
                <a:latin typeface="Aptos"/>
              </a:rPr>
              <a:t>Offer: ₹500–₹1K off
Minimum order: ₹5K
Conversion window: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288036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63940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400" b="1">
                <a:solidFill>
                  <a:srgbClr val="0A2540"/>
                </a:solidFill>
                <a:latin typeface="Aptos"/>
              </a:rPr>
              <a:t>Strategic: Reactivate Potential Loyalists, De-Risk Electronics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0012"/>
            <a:ext cx="100584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5460"/>
            <a:ext cx="109728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50" b="1">
                <a:solidFill>
                  <a:srgbClr val="00A896"/>
                </a:solidFill>
                <a:latin typeface="Aptos"/>
              </a:rPr>
              <a:t>Reactivating dormant Potential Loyalists and diversifying away from Electronics protects ₹40.6M in value and reduces category concentration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3828"/>
            <a:ext cx="1106424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19274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92740"/>
            <a:ext cx="68580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91572"/>
            <a:ext cx="42976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0A896"/>
                </a:solidFill>
                <a:latin typeface="Aptos"/>
              </a:rPr>
              <a:t>TRACK A  •  POTENTIAL LOYALIST REACTIVATION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5620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244 customers  •  ₹40.6M historical value  •  6.8+ months dormant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41964"/>
            <a:ext cx="5943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0">
                <a:solidFill>
                  <a:srgbClr val="F9F7F1"/>
                </a:solidFill>
                <a:latin typeface="Aptos"/>
              </a:rPr>
              <a:t>Loyalty relaunch + retroactive points + 48-hour early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92740"/>
            <a:ext cx="22860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000" b="1">
                <a:solidFill>
                  <a:srgbClr val="E8AA42"/>
                </a:solidFill>
                <a:latin typeface="Aptos"/>
              </a:rPr>
              <a:t>₹8.6M–10.2M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723092"/>
            <a:ext cx="20116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ROI 2.6:1–3.1:1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3251"/>
            <a:ext cx="11064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4451308"/>
            <a:ext cx="685800" cy="685800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451308"/>
            <a:ext cx="68580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0A2540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50140"/>
            <a:ext cx="42976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1">
                <a:solidFill>
                  <a:srgbClr val="00A896"/>
                </a:solidFill>
                <a:latin typeface="Aptos"/>
              </a:rPr>
              <a:t>TRACK B  •  ELECTRONICS BUNDLING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34188"/>
            <a:ext cx="65836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Aptos"/>
              </a:rPr>
              <a:t>Electronics + Education bundles  •  Cross-category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91388"/>
            <a:ext cx="47548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0">
                <a:solidFill>
                  <a:srgbClr val="525B63"/>
                </a:solidFill>
                <a:latin typeface="Aptos"/>
              </a:rPr>
              <a:t>Target Electronics share: 36.4% → 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451308"/>
            <a:ext cx="22860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000" b="1">
                <a:solidFill>
                  <a:srgbClr val="F2545B"/>
                </a:solidFill>
                <a:latin typeface="Aptos"/>
              </a:rPr>
              <a:t>₹2.5M–5M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1765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0">
                <a:solidFill>
                  <a:srgbClr val="525B63"/>
                </a:solidFill>
                <a:latin typeface="Aptos"/>
              </a:rPr>
              <a:t>incremental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5347420"/>
            <a:ext cx="2286000" cy="411480"/>
          </a:xfrm>
          <a:prstGeom prst="roundRect">
            <a:avLst/>
          </a:prstGeom>
          <a:solidFill>
            <a:srgbClr val="D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5402284"/>
            <a:ext cx="22860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00" b="1">
                <a:solidFill>
                  <a:srgbClr val="0A2540"/>
                </a:solidFill>
                <a:latin typeface="Aptos"/>
              </a:rPr>
              <a:t>~₹4.8M–5.8M combined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47104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0">
                <a:solidFill>
                  <a:srgbClr val="525B63"/>
                </a:solidFill>
                <a:latin typeface="Aptos"/>
              </a:rPr>
              <a:t>ApexPlanet Software Pvt. Ltd.  •  Data Analytics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525B6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10378440" y="-411480"/>
            <a:ext cx="2011680" cy="2011680"/>
          </a:xfrm>
          <a:prstGeom prst="hexag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-594360" y="5486400"/>
            <a:ext cx="1463040" cy="1463040"/>
          </a:xfrm>
          <a:prstGeom prst="hexagon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>
                <a:solidFill>
                  <a:srgbClr val="00A896"/>
                </a:solidFill>
                <a:latin typeface="Aptos"/>
              </a:rPr>
              <a:t>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73152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Four Initiatives, One Sequenced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1065276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400" b="1">
                <a:solidFill>
                  <a:srgbClr val="DAF4EF"/>
                </a:solidFill>
                <a:latin typeface="Aptos"/>
              </a:rPr>
              <a:t>Sequenced correctly, these four initiatives can generate ₹16.8M–25.1M in incremental revenue against ~₹10.6M–13.7M in combined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23160"/>
            <a:ext cx="10195560" cy="640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53895" y="2148840"/>
            <a:ext cx="603504" cy="603504"/>
          </a:xfrm>
          <a:prstGeom prst="ellipse">
            <a:avLst/>
          </a:prstGeom>
          <a:solidFill>
            <a:srgbClr val="F25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3895" y="2167128"/>
            <a:ext cx="603504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dirty="0">
                <a:solidFill>
                  <a:srgbClr val="0A2540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0779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A896"/>
                </a:solidFill>
                <a:latin typeface="Aptos"/>
              </a:rPr>
              <a:t>0–30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73552"/>
            <a:ext cx="2240280" cy="1965960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493008"/>
            <a:ext cx="187451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AT-RISK
WIN-BACK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24528"/>
            <a:ext cx="19659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2545B"/>
                </a:solidFill>
                <a:latin typeface="Aptos"/>
              </a:rPr>
              <a:t>₹3.6M–5.4M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681728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636008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3:1–5:1</a:t>
            </a:r>
          </a:p>
        </p:txBody>
      </p:sp>
      <p:sp>
        <p:nvSpPr>
          <p:cNvPr id="16" name="Oval 15"/>
          <p:cNvSpPr/>
          <p:nvPr/>
        </p:nvSpPr>
        <p:spPr>
          <a:xfrm>
            <a:off x="4224528" y="2148840"/>
            <a:ext cx="603504" cy="603504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167128"/>
            <a:ext cx="603504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A254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0779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A896"/>
                </a:solidFill>
                <a:latin typeface="Aptos"/>
              </a:rPr>
              <a:t>30–90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273552"/>
            <a:ext cx="2240280" cy="1965960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493008"/>
            <a:ext cx="187451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CHAMPIONS /
LOYAL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224528"/>
            <a:ext cx="19659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E8AA42"/>
                </a:solidFill>
                <a:latin typeface="Aptos"/>
              </a:rPr>
              <a:t>₹2.7M–4.7M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681728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636008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1.5:1–2:1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2148840"/>
            <a:ext cx="603504" cy="60350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60" y="2167128"/>
            <a:ext cx="603504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A2540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90779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A896"/>
                </a:solidFill>
                <a:latin typeface="Aptos"/>
              </a:rPr>
              <a:t>60–90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273552"/>
            <a:ext cx="2240280" cy="1965960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493008"/>
            <a:ext cx="187451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NEW / RECENT
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224528"/>
            <a:ext cx="19659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A896"/>
                </a:solidFill>
                <a:latin typeface="Aptos"/>
              </a:rPr>
              <a:t>₹3.1M–4.6M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681728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636008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85:1–130:1</a:t>
            </a:r>
          </a:p>
        </p:txBody>
      </p:sp>
      <p:sp>
        <p:nvSpPr>
          <p:cNvPr id="32" name="Oval 31"/>
          <p:cNvSpPr/>
          <p:nvPr/>
        </p:nvSpPr>
        <p:spPr>
          <a:xfrm>
            <a:off x="9765792" y="2148840"/>
            <a:ext cx="603504" cy="603504"/>
          </a:xfrm>
          <a:prstGeom prst="ellipse">
            <a:avLst/>
          </a:prstGeom>
          <a:solidFill>
            <a:srgbClr val="4F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65792" y="2167128"/>
            <a:ext cx="603504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A2540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290779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A896"/>
                </a:solidFill>
                <a:latin typeface="Aptos"/>
              </a:rPr>
              <a:t>90–180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3273552"/>
            <a:ext cx="2240280" cy="1965960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53144" y="3493008"/>
            <a:ext cx="1874519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POTENTIAL +
ELECTRONICS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4224528"/>
            <a:ext cx="196596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FA8D8"/>
                </a:solidFill>
                <a:latin typeface="Aptos"/>
              </a:rPr>
              <a:t>₹11.1M–15.2M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4681728"/>
            <a:ext cx="4114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700" b="1">
                <a:solidFill>
                  <a:srgbClr val="DAF4EF"/>
                </a:solidFill>
                <a:latin typeface="Aptos"/>
              </a:rPr>
              <a:t>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0344" y="4636008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2.6:1–3.1:1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50992"/>
            <a:ext cx="10744200" cy="5486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760720"/>
            <a:ext cx="1037844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80" b="1">
                <a:solidFill>
                  <a:srgbClr val="0A2540"/>
                </a:solidFill>
                <a:latin typeface="Aptos"/>
              </a:rPr>
              <a:t>PARALLELIZE: New/Recent automation + At-Risk win-back  •  THEN: Loyalty expansion  •  FINALLY: Dormant reactivation + category diversification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00" b="1">
                <a:solidFill>
                  <a:srgbClr val="DAF4E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8138160" y="1143000"/>
            <a:ext cx="3566160" cy="3566160"/>
          </a:xfrm>
          <a:prstGeom prst="hexagon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8823960" y="1847088"/>
            <a:ext cx="2148840" cy="2148840"/>
          </a:xfrm>
          <a:prstGeom prst="hexagon">
            <a:avLst/>
          </a:prstGeom>
          <a:solidFill>
            <a:srgbClr val="23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>
            <a:off x="9299448" y="2281428"/>
            <a:ext cx="1280160" cy="1280160"/>
          </a:xfrm>
          <a:prstGeom prst="hexagon">
            <a:avLst/>
          </a:prstGeom>
          <a:solidFill>
            <a:srgbClr val="E8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6217920" cy="9601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200" b="1">
                <a:solidFill>
                  <a:srgbClr val="F9F7F1"/>
                </a:solidFill>
                <a:latin typeface="Aptos"/>
              </a:rPr>
              <a:t>From data wrangling to a validated,
ROI-ranked growth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93008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A896"/>
                </a:solidFill>
                <a:latin typeface="Aptos"/>
              </a:rPr>
              <a:t>Questions welcome.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224528"/>
            <a:ext cx="6400800" cy="1005840"/>
          </a:xfrm>
          <a:prstGeom prst="roundRect">
            <a:avLst/>
          </a:prstGeom>
          <a:solidFill>
            <a:srgbClr val="13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407408"/>
            <a:ext cx="18288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>
                <a:solidFill>
                  <a:srgbClr val="00A896"/>
                </a:solidFill>
                <a:latin typeface="Aptos"/>
              </a:rPr>
              <a:t>CAPSTONE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57150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Clean analytical dataset   •   SQL + Python EDA   •   Power BI dashboards   •   RFM model   •   Statistical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33872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Brojo Mohan Dutta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44768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50" b="0">
                <a:solidFill>
                  <a:srgbClr val="DAF4EF"/>
                </a:solidFill>
                <a:latin typeface="Aptos"/>
              </a:rPr>
              <a:t>Data Analytics Intern  •  ApexPlanet Software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6126480"/>
            <a:ext cx="425196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750" b="0">
                <a:solidFill>
                  <a:srgbClr val="F9F7F1"/>
                </a:solidFill>
                <a:latin typeface="Aptos"/>
              </a:rPr>
              <a:t>Full technical workflow, SQL, Python notebooks and Power BI dashboard available on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1968</Words>
  <Application>Microsoft Office PowerPoint</Application>
  <PresentationFormat>Widescreen</PresentationFormat>
  <Paragraphs>400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Sales &amp; Customer Analytics Capstone</dc:title>
  <dc:subject>60-Day Data Analytics Internship — 16 Slide Capstone</dc:subject>
  <dc:creator>Brojo Mohan Dutta</dc:creator>
  <cp:keywords>ApexPlanet, Data Analytics, Python, Pandas, BigQuery, SQL, Power BI, RFM, Statistics</cp:keywords>
  <dc:description>generated using python-pptx</dc:description>
  <cp:lastModifiedBy>Microsoft account</cp:lastModifiedBy>
  <cp:revision>15</cp:revision>
  <dcterms:created xsi:type="dcterms:W3CDTF">2013-01-27T09:14:16Z</dcterms:created>
  <dcterms:modified xsi:type="dcterms:W3CDTF">2026-09-18T10:42:40Z</dcterms:modified>
  <cp:category>Data Analytics Internship Capstone</cp:category>
</cp:coreProperties>
</file>